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75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74320"/>
            <a:ext cx="2011680" cy="3474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74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B.TECH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Members</a:t>
            </a:r>
            <a:endParaRPr lang="en-US" sz="4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Recommendation</a:t>
            </a:r>
            <a:endParaRPr lang="en-US" sz="4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47472" y="3063240"/>
            <a:ext cx="3840480" cy="36576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200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Recommendation · ML Classification · Streamlit 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3794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 Kumar</a:t>
            </a: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Reg. No: 12317547   |   Machine Learning  ·  CSE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42062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University, Punjab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457200"/>
            <a:ext cx="1463040" cy="1463040"/>
          </a:xfrm>
          <a:prstGeom prst="ellipse">
            <a:avLst/>
          </a:prstGeom>
          <a:solidFill>
            <a:srgbClr val="E8530A">
              <a:alpha val="92000"/>
            </a:srgbClr>
          </a:solidFill>
          <a:ln w="12700">
            <a:solidFill>
              <a:srgbClr val="E8530A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560320"/>
            <a:ext cx="914400" cy="914400"/>
          </a:xfrm>
          <a:prstGeom prst="ellipse">
            <a:avLst/>
          </a:prstGeom>
          <a:solidFill>
            <a:srgbClr val="E8530A">
              <a:alpha val="94000"/>
            </a:srgbClr>
          </a:solidFill>
          <a:ln w="12700">
            <a:solidFill>
              <a:srgbClr val="E8530A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3840480"/>
            <a:ext cx="548640" cy="548640"/>
          </a:xfrm>
          <a:prstGeom prst="ellipse">
            <a:avLst/>
          </a:prstGeom>
          <a:solidFill>
            <a:srgbClr val="E8530A">
              <a:alpha val="90000"/>
            </a:srgbClr>
          </a:solidFill>
          <a:ln w="12700">
            <a:solidFill>
              <a:srgbClr val="E8530A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38912" cy="3474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72184"/>
            <a:ext cx="438912" cy="3474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7218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490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438912" cy="3474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4825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0665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24328"/>
            <a:ext cx="438912" cy="3474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243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6426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438912" cy="3474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20040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2186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76472"/>
            <a:ext cx="438912" cy="3474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776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794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352544"/>
            <a:ext cx="438912" cy="3474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35254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370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896112"/>
            <a:ext cx="43891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961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472184"/>
            <a:ext cx="43891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47218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1490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2048256"/>
            <a:ext cx="43891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04825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20665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624328"/>
            <a:ext cx="43891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6243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26426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200400"/>
            <a:ext cx="43891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20040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32186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3776472"/>
            <a:ext cx="43891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7764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intelligently recommend the right gym exercises to users based on their type, body part, and equipment preferences?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0136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01368"/>
            <a:ext cx="54864" cy="1207008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56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Plans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trainers &amp; online resources offer one-size-fits-all plans; no personalization based on exercise attributes.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246120"/>
            <a:ext cx="54864" cy="1207008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00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Mismatch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Users—especially beginners—pick inappropriate difficulty levels, risking injury or poor results.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801368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801368"/>
            <a:ext cx="54864" cy="1207008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856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Discovery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1671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2,918+ exercises available, users struggle to discover alternatives that match their goals.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46120"/>
            <a:ext cx="54864" cy="1207008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300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Tool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61188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open, transparent ML-powered system exists to classify difficulty and recommend similar workouts.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1207008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 Gym Members Workout Recommendation System that combines Exploratory Data Analysis (EDA), Content-Based Filtering, and Machine Learning to assist fitness enthusiasts in selecting appropriate exercises and discovering new workout options through data-driven intelligence.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0916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292608" cy="29260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1152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Random Forest Classifier to predict exercise difficulty (Beginner / Intermediate / Expert)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856232"/>
            <a:ext cx="292608" cy="29260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8196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content-based recommender using TF-IDF + Cosine Similarity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523744"/>
            <a:ext cx="292608" cy="29260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to uncover patterns in exercise types, body parts &amp; ratings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191256"/>
            <a:ext cx="292608" cy="29260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154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an interactive Streamlit web application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858768"/>
            <a:ext cx="292608" cy="29260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822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accuracy, precision, recall &amp; F1-score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389120"/>
            <a:ext cx="85039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38912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2,918 Exercises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41448" y="4526280"/>
            <a:ext cx="0" cy="320040"/>
          </a:xfrm>
          <a:prstGeom prst="line">
            <a:avLst/>
          </a:prstGeom>
          <a:noFill/>
          <a:ln w="12700">
            <a:solidFill>
              <a:srgbClr val="4A6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41448" y="438912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 Features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62856" y="4526280"/>
            <a:ext cx="0" cy="320040"/>
          </a:xfrm>
          <a:prstGeom prst="line">
            <a:avLst/>
          </a:prstGeom>
          <a:noFill/>
          <a:ln w="12700">
            <a:solidFill>
              <a:srgbClr val="4A6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438912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 Difficulty Levels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84264" y="4526280"/>
            <a:ext cx="0" cy="320040"/>
          </a:xfrm>
          <a:prstGeom prst="line">
            <a:avLst/>
          </a:prstGeom>
          <a:noFill/>
          <a:ln w="12700">
            <a:solidFill>
              <a:srgbClr val="4A6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84264" y="438912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 Deployed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Gym Exercise Dataset (Mega Gym)  |  Total Records: 2,918  |  Features: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1920240" cy="91440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2,918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207008"/>
            <a:ext cx="192024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207008"/>
            <a:ext cx="19202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 Levels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1737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Target Variable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207008"/>
            <a:ext cx="19202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Kaggle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737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2860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Descriptions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2743200"/>
            <a:ext cx="8503920" cy="310896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432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Title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274320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Name of the exercise (e.g., Barbell Bench Press)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072384"/>
            <a:ext cx="8503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723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Type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3072384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Category: Strength, Cardio, Stretching, Plyometrics…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401568"/>
            <a:ext cx="8503920" cy="310896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015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BodyPart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340156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Target muscle group (e.g., Chest, Back, Legs)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8503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307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Equipment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83080" y="3730752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Required equipment (Barbell, Dumbbell, Body Only)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059936"/>
            <a:ext cx="8503920" cy="310896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059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Level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83080" y="405993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Difficulty: Beginner / Intermediate / Expert  ← Target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389120"/>
            <a:ext cx="8503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3891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Rating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83080" y="438912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Numeric user rating (scale 1–10)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718304"/>
            <a:ext cx="8503920" cy="310896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7183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Desc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83080" y="4718304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Textual description of the exercise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640080" cy="89611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43584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→ 'Unknown', Desc → 'No Description', Rating → Mean imputation, RatingDesc → 'No Rating'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65376"/>
            <a:ext cx="640080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65376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9385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267712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pandas duplicated() and drop_duplicates() to eliminate repeated exercise entries that could bias 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89504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9504"/>
            <a:ext cx="640080" cy="89611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89504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96265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 Variables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via sklearn LabelEncoder: Type, BodyPart → integers; Level → Beginner=0, Expert=1, Intermediate=2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13632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13632"/>
            <a:ext cx="640080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13632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98678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Combination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315968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Type + BodyPart + Equipment into a single textual feature for TF-IDF vectorization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46320"/>
            <a:ext cx="8503920" cy="16459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463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Result: Clean, encoded dataset ready for ML model training &amp; TF-IDF vectorization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Combined Feature Creation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286000" cy="59436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801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910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e.g. "Strength"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30A"/>
                </a:solidFill>
              </a:rPr>
              <a:t>+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2286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0574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BodyPart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368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e.g. "Chest"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30A"/>
                </a:solidFill>
              </a:rPr>
              <a:t>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22860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8346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Equipment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1455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e.g. "Barbell"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2286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03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30A"/>
                </a:solidFill>
              </a:rPr>
              <a:t>"Strength Chest Barbell"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TF-IDF Vectorization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2344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3258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converts the combined text column into numerical feature vectors. Terms appearing frequently in one exercise but rarely across the corpus receive higher weights — making it ideal for capturing distinctive exercise characteristics.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7249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Train-Test Split &amp; Cosine Similarity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3127248"/>
            <a:ext cx="1828800" cy="73152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3127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80%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12280" y="3127248"/>
            <a:ext cx="18288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12280" y="3127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20%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709160" y="4005072"/>
            <a:ext cx="41148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4059936"/>
            <a:ext cx="393192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Matrix: A pairwise similarity matrix computed over TF-IDF vectors. Each (i,j) entry = similarity between exercise i &amp; j. Scores near 1.0 = highly similar. Serialized via pickle for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384048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Exercise Type Distribution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850392"/>
            <a:ext cx="804672" cy="2560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85039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Bar Chart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457200" cy="82296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288" y="1627632"/>
            <a:ext cx="4572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9656" y="1810512"/>
            <a:ext cx="457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8024" y="1581912"/>
            <a:ext cx="457200" cy="640080"/>
          </a:xfrm>
          <a:prstGeom prst="rect">
            <a:avLst/>
          </a:prstGeom>
          <a:solidFill>
            <a:srgbClr val="E8530A">
              <a:alpha val="60000"/>
            </a:srgbClr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36392" y="1764792"/>
            <a:ext cx="457200" cy="457200"/>
          </a:xfrm>
          <a:prstGeom prst="rect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dominates (~40%), followed by Cardio &amp; Stretching. Reflects typical gym equipment availability.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811203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804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Body Part Distribution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850392"/>
            <a:ext cx="804672" cy="2560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85039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Bar Chart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37760" y="1399032"/>
            <a:ext cx="457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96128" y="1627632"/>
            <a:ext cx="4572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54496" y="1810512"/>
            <a:ext cx="457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2864" y="1581912"/>
            <a:ext cx="457200" cy="640080"/>
          </a:xfrm>
          <a:prstGeom prst="rect">
            <a:avLst/>
          </a:prstGeom>
          <a:solidFill>
            <a:srgbClr val="E8530A">
              <a:alpha val="60000"/>
            </a:srgbClr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1232" y="1764792"/>
            <a:ext cx="457200" cy="457200"/>
          </a:xfrm>
          <a:prstGeom prst="rect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286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 Legs &amp; Chest have the highest representation. Neck &amp; Calves have fewer catalogued exercises.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80360"/>
            <a:ext cx="4114800" cy="384048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803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Difficulty Level Distribution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20440" y="2926080"/>
            <a:ext cx="804672" cy="2560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92608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Pie Chart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474720"/>
            <a:ext cx="457200" cy="82296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1288" y="3703320"/>
            <a:ext cx="4572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19656" y="3886200"/>
            <a:ext cx="457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78024" y="3657600"/>
            <a:ext cx="457200" cy="640080"/>
          </a:xfrm>
          <a:prstGeom prst="rect">
            <a:avLst/>
          </a:prstGeom>
          <a:solidFill>
            <a:srgbClr val="E8530A">
              <a:alpha val="60000"/>
            </a:srgbClr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36392" y="3840480"/>
            <a:ext cx="457200" cy="457200"/>
          </a:xfrm>
          <a:prstGeom prst="rect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3616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(~45%), Beginner (~35%), Expert (~20%). Moderate class imbalance — addressed during evaluation.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8803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880360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8803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Rating Distribution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55280" y="2926080"/>
            <a:ext cx="804672" cy="2560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292608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Histogram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937760" y="3474720"/>
            <a:ext cx="457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96128" y="3703320"/>
            <a:ext cx="4572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54496" y="3886200"/>
            <a:ext cx="457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12864" y="3657600"/>
            <a:ext cx="457200" cy="640080"/>
          </a:xfrm>
          <a:prstGeom prst="rect">
            <a:avLst/>
          </a:prstGeom>
          <a:solidFill>
            <a:srgbClr val="E8530A">
              <a:alpha val="60000"/>
            </a:srgbClr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71232" y="3840480"/>
            <a:ext cx="457200" cy="457200"/>
          </a:xfrm>
          <a:prstGeom prst="rect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43616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normal, centered ~5.5. Most exercises rated 4–7. Few outliers at extremes (confirmed by IQR).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475488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 Forest Classifier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method: 100 decision trees trained via bootstrap sampling. Each split considers a random feature subset.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842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data &amp; non-linear relationships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597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overfitting (averaging effect)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62656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3522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feature importance scores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438144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107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high-dimensional TF-IDF matrices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041648"/>
            <a:ext cx="393192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148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n_estimators=100, random_state=42, sklearn defaults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804672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04672"/>
            <a:ext cx="41148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8046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Content-Based Recommender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3533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exercise attributes (Type, BodyPart, Equipment) — not user history — to find similar exercises.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1920240"/>
            <a:ext cx="3200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0368" y="193852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Type + BodyPart + Equipment → text string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01768" y="2267712"/>
            <a:ext cx="0" cy="274320"/>
          </a:xfrm>
          <a:prstGeom prst="line">
            <a:avLst/>
          </a:prstGeom>
          <a:noFill/>
          <a:ln w="12700">
            <a:solidFill>
              <a:srgbClr val="8A9B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560320"/>
            <a:ext cx="3200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257860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TF-IDF vectorization → numerical vectors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01768" y="2907792"/>
            <a:ext cx="0" cy="274320"/>
          </a:xfrm>
          <a:prstGeom prst="line">
            <a:avLst/>
          </a:prstGeom>
          <a:noFill/>
          <a:ln w="12700">
            <a:solidFill>
              <a:srgbClr val="8A9B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200400"/>
            <a:ext cx="3200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30368" y="32186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pairwise Cosine Similarity matrix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01768" y="3547872"/>
            <a:ext cx="0" cy="274320"/>
          </a:xfrm>
          <a:prstGeom prst="line">
            <a:avLst/>
          </a:prstGeom>
          <a:noFill/>
          <a:ln w="12700">
            <a:solidFill>
              <a:srgbClr val="8A9B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840480"/>
            <a:ext cx="3200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385876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input exercise → retrieve Top-N similar by score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041648"/>
            <a:ext cx="393192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114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 1.0 = identical; 0.0 = no similarity. Invariant to document length — ideal for TF-IDF vectors.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Training Procedure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trained on bootstrap samples of the 80% training split. Each tree grown without depth pruning (max_depth=None) to capture complex feature interactions. random_state=42 ensures full reproducibility.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3017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Confusion Matrix (3-Class)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438144"/>
            <a:ext cx="969264" cy="402336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438144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07592" y="3438144"/>
            <a:ext cx="969264" cy="402336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3438144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Pred: Beg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95144" y="3438144"/>
            <a:ext cx="969264" cy="402336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3438144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Pred: 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82696" y="3438144"/>
            <a:ext cx="969264" cy="402336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3438144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Pred: Exp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858768"/>
            <a:ext cx="969264" cy="402336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858768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Act: Beg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07592" y="3858768"/>
            <a:ext cx="969264" cy="402336"/>
          </a:xfrm>
          <a:prstGeom prst="rect">
            <a:avLst/>
          </a:prstGeom>
          <a:solidFill>
            <a:srgbClr val="C8F0D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7592" y="3858768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95144" y="3858768"/>
            <a:ext cx="969264" cy="402336"/>
          </a:xfrm>
          <a:prstGeom prst="rect">
            <a:avLst/>
          </a:prstGeom>
          <a:solidFill>
            <a:srgbClr val="FFF0C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95144" y="3858768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△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82696" y="3858768"/>
            <a:ext cx="969264" cy="402336"/>
          </a:xfrm>
          <a:prstGeom prst="rect">
            <a:avLst/>
          </a:prstGeom>
          <a:solidFill>
            <a:srgbClr val="FFDDD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3858768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279392"/>
            <a:ext cx="969264" cy="402336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79392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Act: Int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07592" y="4279392"/>
            <a:ext cx="969264" cy="402336"/>
          </a:xfrm>
          <a:prstGeom prst="rect">
            <a:avLst/>
          </a:prstGeom>
          <a:solidFill>
            <a:srgbClr val="FFF0C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4279392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95144" y="4279392"/>
            <a:ext cx="969264" cy="402336"/>
          </a:xfrm>
          <a:prstGeom prst="rect">
            <a:avLst/>
          </a:prstGeom>
          <a:solidFill>
            <a:srgbClr val="C8F0D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4279392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82696" y="4279392"/>
            <a:ext cx="969264" cy="402336"/>
          </a:xfrm>
          <a:prstGeom prst="rect">
            <a:avLst/>
          </a:prstGeom>
          <a:solidFill>
            <a:srgbClr val="FFF0C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4279392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△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700016"/>
            <a:ext cx="969264" cy="402336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700016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Act: Exp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307592" y="4700016"/>
            <a:ext cx="969264" cy="402336"/>
          </a:xfrm>
          <a:prstGeom prst="rect">
            <a:avLst/>
          </a:prstGeom>
          <a:solidFill>
            <a:srgbClr val="FFDDD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07592" y="4700016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✗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95144" y="4700016"/>
            <a:ext cx="969264" cy="402336"/>
          </a:xfrm>
          <a:prstGeom prst="rect">
            <a:avLst/>
          </a:prstGeom>
          <a:solidFill>
            <a:srgbClr val="FFF0C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95144" y="4700016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△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82696" y="4700016"/>
            <a:ext cx="969264" cy="402336"/>
          </a:xfrm>
          <a:prstGeom prst="rect">
            <a:avLst/>
          </a:prstGeom>
          <a:solidFill>
            <a:srgbClr val="C8F0D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2696" y="4700016"/>
            <a:ext cx="969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Evaluation Metrics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54880" y="11887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1188720"/>
            <a:ext cx="54864" cy="8046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Accuracy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9204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 of correctly classified exercises across all 3 difficulty levels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21031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103120"/>
            <a:ext cx="54864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Precision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92040" y="2468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exercises predicted as a level — what fraction truly belong there (per class)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30175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3017520"/>
            <a:ext cx="54864" cy="804672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090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Recall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892040" y="3383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exercises that truly belong to a level — what fraction were correctly predicted (per class)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54880" y="39319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54880" y="3931920"/>
            <a:ext cx="54864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4005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F1-Score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892040" y="4297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 — balanced view for imbalanced classes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2011680" cy="54864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150876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(Kaggle)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417320"/>
            <a:ext cx="228600" cy="0"/>
          </a:xfrm>
          <a:prstGeom prst="line">
            <a:avLst/>
          </a:prstGeom>
          <a:noFill/>
          <a:ln w="25400">
            <a:solidFill>
              <a:srgbClr val="E85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3075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530A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914400"/>
            <a:ext cx="15087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9144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417320"/>
            <a:ext cx="228600" cy="0"/>
          </a:xfrm>
          <a:prstGeom prst="line">
            <a:avLst/>
          </a:prstGeom>
          <a:noFill/>
          <a:ln w="25400">
            <a:solidFill>
              <a:srgbClr val="E853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3075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530A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94760" y="914400"/>
            <a:ext cx="1508760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9144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417320"/>
            <a:ext cx="228600" cy="0"/>
          </a:xfrm>
          <a:prstGeom prst="line">
            <a:avLst/>
          </a:prstGeom>
          <a:noFill/>
          <a:ln w="25400">
            <a:solidFill>
              <a:srgbClr val="E853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3075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530A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914400"/>
            <a:ext cx="1508760" cy="100584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9144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 Models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(RF + TF-IDF)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1417320"/>
            <a:ext cx="228600" cy="0"/>
          </a:xfrm>
          <a:prstGeom prst="line">
            <a:avLst/>
          </a:prstGeom>
          <a:noFill/>
          <a:ln w="25400">
            <a:solidFill>
              <a:srgbClr val="E853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3075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530A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914400"/>
            <a:ext cx="150876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9480" y="9144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30A"/>
                </a:solidFill>
              </a:rPr>
              <a:t>Preprocessing Pipeline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2514600"/>
            <a:ext cx="4114800" cy="34747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" y="2587752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514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Missing Value Imputation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" y="3044952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2971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Duplicate Removal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429000"/>
            <a:ext cx="4114800" cy="34747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3192" y="3502152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Label Encoding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886200"/>
            <a:ext cx="4114800" cy="34747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" y="3959352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" y="3886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Feature Combination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514600"/>
            <a:ext cx="4114800" cy="34747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2587752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2514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TF-IDF Vectorization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3044952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2971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Cosine Similarity Matrix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429000"/>
            <a:ext cx="4114800" cy="34747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8032" y="3502152"/>
            <a:ext cx="201168" cy="201168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Model Serialization (pickle)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End-to-End Pipeline: Raw CSV → Clean Data → Feature Vectors → Trained Models → Deployed Streamlit App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was chosen for its Python-native integration and ability to prototype interactive dashboards without front-end expertise.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1148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4114800" cy="45720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Difficulty Predictor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Inputs: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2176272"/>
            <a:ext cx="164592" cy="164592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Exercise Type (dropdown)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" y="2560320"/>
            <a:ext cx="164592" cy="164592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532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Body Part (dropdown)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2944368"/>
            <a:ext cx="164592" cy="164592"/>
          </a:xfrm>
          <a:prstGeom prst="ellipse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9169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Equipment (dropdown)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65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Output: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3794760" cy="438912"/>
          </a:xfrm>
          <a:prstGeom prst="rect">
            <a:avLst/>
          </a:prstGeom>
          <a:solidFill>
            <a:srgbClr val="E8530A">
              <a:alpha val="15000"/>
            </a:srgbClr>
          </a:solidFill>
          <a:ln w="12700">
            <a:solidFill>
              <a:srgbClr val="E8530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79476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30A"/>
                </a:solidFill>
              </a:rPr>
              <a:t>Predicted Level: Beginner / Intermediate / Expert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06824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Inputs → Concat → TF-IDF Transform → RF Predict → st.success()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98448"/>
            <a:ext cx="41148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98448"/>
            <a:ext cx="41148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298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Exercise Recommender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Inputs: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19472" y="2176272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Select exercise from dataset dropdown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Output: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008376"/>
            <a:ext cx="3794760" cy="438912"/>
          </a:xfrm>
          <a:prstGeom prst="rect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0266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Top-N similar exercises with cosine scores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53872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Exercise → Index Lookup → Cosine Scores → Sort → Display Top-N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</a:rPr>
              <a:t>Serialized Models: difficulty_model.pkl  ·  tfidf.pkl  ·  label_encoder.pkl  ·  similarity.pkl  ·  gym_data.pkl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920240" cy="100584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2,918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Exercises Analysed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04672"/>
            <a:ext cx="19202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0467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Difficulty Classes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04672"/>
            <a:ext cx="1920240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0467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RF +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TF-IDF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Models Deployed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804672"/>
            <a:ext cx="192024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0467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100%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Streamlit Live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93392"/>
            <a:ext cx="54864" cy="8686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Strength Exercises Dominate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3591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training forms ~40% of the dataset, reflecting gym equipment availability patterns.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99339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93392"/>
            <a:ext cx="54864" cy="8686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Recommender Works Effectively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3591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'Barbell Bench Press' returns logically similar chest+barbell exercises (Incline Press, DB Flyes).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99923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99232"/>
            <a:ext cx="54864" cy="8686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Rating is Approximately Normal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3649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 center around 5.5; Expert-level exercises tend to receive slightly higher median ratings.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99923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99232"/>
            <a:ext cx="54864" cy="8686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Equipment Drives Similarity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3649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requiring the same equipment cluster together — equipment type is the dominant similarity signal.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00507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005072"/>
            <a:ext cx="54864" cy="8686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Intermediate is the Largest Class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3708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of exercises are Intermediate, confirming most gym exercises avoid extremes in difficulty.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400507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4005072"/>
            <a:ext cx="54864" cy="8686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Streamlit Deployment Success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43708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returns predictions in under 1 second; accessible to non-technical users via 3-dropdown UI.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2697480" cy="50292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4124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Personalized Recommendations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408176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biometric data (age, weight, fitness level, injury history) using collaborative or hybrid filtering.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41248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41248"/>
            <a:ext cx="2697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4124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 Workout Plan 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408176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single exercises to generate multi-day programs targeting fat loss, muscle gain, or endurance.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41248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41248"/>
            <a:ext cx="269748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84124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🎥  Video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1928" y="1408176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exercise recommendations to instructional video content for proper form guidance and injury prevention.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2697480" cy="50292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2608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⌚  Real-Time Wearable Feedback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49300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heart rate &amp; calorie data from wearables to dynamically adjust difficulty predictions mid-workout.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26080"/>
            <a:ext cx="2697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2608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 Advanced NLP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349300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 Word2Vec, GloVe, or BERT embeddings for richer semantic exercise representations.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9260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926080"/>
            <a:ext cx="269748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92608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 Mobile Application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1928" y="349300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React Native mobile app with push notifications for workout reminders and exercise suggestions.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743200" cy="54864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87552"/>
            <a:ext cx="8503920" cy="65836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developed and deployed a Gym Members Workout Recommendation System, integrating Random Forest Classification and TF-IDF-based Content Filtering into a practical, accessible Streamlit application.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1828800"/>
            <a:ext cx="850392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828800"/>
            <a:ext cx="54864" cy="6400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883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ML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883664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Kaggle data through EDA, preprocessing, feature engineering, model training, evaluation, and deployment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578608"/>
            <a:ext cx="850392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578608"/>
            <a:ext cx="54864" cy="6400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ML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633472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for difficulty prediction + TF-IDF cosine similarity for exercise recommendations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3328416"/>
            <a:ext cx="850392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328416"/>
            <a:ext cx="54864" cy="6400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Deployment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383280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translates complex ML predictions into practical workout guidance for non-technical users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4078224"/>
            <a:ext cx="8503920" cy="64008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4078224"/>
            <a:ext cx="54864" cy="64008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4133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Reinforced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4133088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(TF-IDF), Ensemble Learning (Random Forest), Similarity Computation, and Web App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74320"/>
            <a:ext cx="2011680" cy="2011680"/>
          </a:xfrm>
          <a:prstGeom prst="ellipse">
            <a:avLst/>
          </a:prstGeom>
          <a:solidFill>
            <a:srgbClr val="E8530A">
              <a:alpha val="15000"/>
            </a:srgbClr>
          </a:solidFill>
          <a:ln w="12700">
            <a:solidFill>
              <a:srgbClr val="E8530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3200400"/>
            <a:ext cx="1097280" cy="1097280"/>
          </a:xfrm>
          <a:prstGeom prst="ellipse">
            <a:avLst/>
          </a:prstGeom>
          <a:solidFill>
            <a:srgbClr val="E8530A">
              <a:alpha val="15000"/>
            </a:srgbClr>
          </a:solidFill>
          <a:ln w="12700">
            <a:solidFill>
              <a:srgbClr val="E8530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389120"/>
            <a:ext cx="731520" cy="731520"/>
          </a:xfrm>
          <a:prstGeom prst="ellipse">
            <a:avLst/>
          </a:prstGeom>
          <a:solidFill>
            <a:srgbClr val="E8530A">
              <a:alpha val="15000"/>
            </a:srgbClr>
          </a:solidFill>
          <a:ln w="12700">
            <a:solidFill>
              <a:srgbClr val="E8530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657600" cy="54864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29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Members Workout Recommendation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 Kumar</a:t>
            </a: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Reg. No: 12317547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Computer Science &amp;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University, Punjab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E8530A"/>
          </a:solidFill>
          <a:ln w="12700">
            <a:solidFill>
              <a:srgbClr val="E853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1617</Words>
  <Application>Microsoft Office PowerPoint</Application>
  <PresentationFormat>On-screen Show (16:9)</PresentationFormat>
  <Paragraphs>288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Members Workout Recommendation System</dc:title>
  <dc:subject>PptxGenJS Presentation</dc:subject>
  <dc:creator>Arpit Kumar</dc:creator>
  <cp:lastModifiedBy>arpit kumar</cp:lastModifiedBy>
  <cp:revision>2</cp:revision>
  <dcterms:created xsi:type="dcterms:W3CDTF">2026-06-07T17:29:30Z</dcterms:created>
  <dcterms:modified xsi:type="dcterms:W3CDTF">2026-06-07T17:46:31Z</dcterms:modified>
</cp:coreProperties>
</file>